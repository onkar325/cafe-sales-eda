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2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150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572000" cy="4572000"/>
          </a:xfrm>
          <a:prstGeom prst="ellipse">
            <a:avLst/>
          </a:prstGeom>
          <a:solidFill>
            <a:srgbClr val="6F4E3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846320"/>
            <a:ext cx="2926080" cy="2926080"/>
          </a:xfrm>
          <a:prstGeom prst="ellipse">
            <a:avLst/>
          </a:prstGeom>
          <a:solidFill>
            <a:srgbClr val="C0855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CERTIFICATION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Café Sales: Cleaning the Data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Finding Insights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8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took 10,000 messy sales records and cleaned them, explored them, and found useful patterns — using Python.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2011680" cy="0"/>
          </a:xfrm>
          <a:prstGeom prst="line">
            <a:avLst/>
          </a:prstGeom>
          <a:noFill/>
          <a:ln w="25400">
            <a:solidFill>
              <a:srgbClr val="A9CB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74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|  Onkar Sonne        Batch  |  B010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8064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40342A"/>
          </a:solidFill>
          <a:ln w="12700">
            <a:solidFill>
              <a:srgbClr val="5C4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806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58064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40342A"/>
          </a:solidFill>
          <a:ln w="12700">
            <a:solidFill>
              <a:srgbClr val="5C4B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5806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58064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40342A"/>
          </a:solidFill>
          <a:ln w="12700">
            <a:solidFill>
              <a:srgbClr val="5C4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5806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5806440"/>
            <a:ext cx="1965960" cy="502920"/>
          </a:xfrm>
          <a:prstGeom prst="roundRect">
            <a:avLst>
              <a:gd name="adj" fmla="val 14545"/>
            </a:avLst>
          </a:prstGeom>
          <a:solidFill>
            <a:srgbClr val="40342A"/>
          </a:solidFill>
          <a:ln w="12700">
            <a:solidFill>
              <a:srgbClr val="5C4B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8040" y="5806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71907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0665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 and why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548640" cy="548640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91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6151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&amp; Cleaning It Up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96265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found and fixed problems in the data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753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51129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Data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8587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charts we made to understand the sales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548640" cy="548640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71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4074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47548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patterns hiding in the numbers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367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5303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Café Should Do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17320" y="565099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next steps based on what we learned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Messy Sales Data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into Useful Information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dataset copies what real sales data often looks like: some values are missing or wrong, marked with </a:t>
            </a:r>
            <a:r>
              <a:rPr lang="en-US" sz="14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"ERROR" or "UNKNOWN"</a:t>
            </a:r>
            <a:r>
              <a:rPr lang="en-US" sz="14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instead of just being blank.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A9CBB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035808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and fix the problems in the data using Python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630168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A9CBB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630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602736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sales to see patterns in products, payments and time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197096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A9CBB7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970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1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169664"/>
            <a:ext cx="6263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what we learn into simple, useful advice for the business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635240" y="640080"/>
            <a:ext cx="3977640" cy="5486400"/>
          </a:xfrm>
          <a:prstGeom prst="roundRect">
            <a:avLst>
              <a:gd name="adj" fmla="val 2759"/>
            </a:avLst>
          </a:prstGeom>
          <a:solidFill>
            <a:srgbClr val="2A1F16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960120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C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955280" y="16184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records we started with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955280" y="2258568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C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9,031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955280" y="2916936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rows left after fixing the data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955280" y="3557016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C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955280" y="421538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menu items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955280" y="4855464"/>
            <a:ext cx="3383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AC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955280" y="551383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customers can pay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to Know the Data First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fixing anything, we looked at the data closely — its size, its columns, and how many values were missing.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number for each order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78608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578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 item that was bought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145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1455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were bought (a number)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7124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Unit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71246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one item, in $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97880" y="20116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Spent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09560" y="2011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 × Price — the full amount paid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97880" y="2578608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257860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257860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Card, or Digital Wallet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97880" y="3145536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14553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3145536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Eaten in the café or taken away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97880" y="3712464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371246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3712464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date of the purchase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Simple Steps to Clean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6736" y="2240280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fake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7033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"ERROR" and "UNKNOWN" are turned into real blank (missing) values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33472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196596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11296" y="2240280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80360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column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7033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dates were stored as text — we converted them back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196596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05856" y="2240280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8" name="Text 16"/>
          <p:cNvSpPr/>
          <p:nvPr/>
        </p:nvSpPr>
        <p:spPr>
          <a:xfrm>
            <a:off x="570585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Fill in what we can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74920" y="37033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of Quantity, Price, or Total were known, we worked out the third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22592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196596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3E3D3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0416" y="2240280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24" name="Text 22"/>
          <p:cNvSpPr/>
          <p:nvPr/>
        </p:nvSpPr>
        <p:spPr>
          <a:xfrm>
            <a:off x="790041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69480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what can't be fixed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69480" y="37033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no item name were dropped — nothing to rebuild them from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17152" y="3200400"/>
            <a:ext cx="109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5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326880" y="1965960"/>
            <a:ext cx="2084832" cy="3017520"/>
          </a:xfrm>
          <a:prstGeom prst="roundRect">
            <a:avLst>
              <a:gd name="adj" fmla="val 4386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94976" y="2240280"/>
            <a:ext cx="548640" cy="548640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30" name="Text 28"/>
          <p:cNvSpPr/>
          <p:nvPr/>
        </p:nvSpPr>
        <p:spPr>
          <a:xfrm>
            <a:off x="1009497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64040" y="3017520"/>
            <a:ext cx="18105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464040" y="3703320"/>
            <a:ext cx="18105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exact repeated rows were removed, then we checked again for gaps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2A1F16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5257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 </a:t>
            </a:r>
            <a:r>
              <a:rPr lang="en-US" sz="1300" dirty="0">
                <a:solidFill>
                  <a:srgbClr val="D8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10,000 rows and kept 9,031 clean ones — filling in numbers wherever we could, instead of just throwing data away.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Messy Was the Data?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had some missing or wrong values. Location and Payment Method were the worst.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F4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057400" y="26700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57400" y="298094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values were missing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F4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~32%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057400" y="36758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39867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values were missing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6F4E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057400" y="46817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49926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— those rows were removed</a:t>
            </a:r>
            <a:endParaRPr lang="en-US" sz="1100" dirty="0"/>
          </a:p>
        </p:txBody>
      </p:sp>
      <p:pic>
        <p:nvPicPr>
          <p:cNvPr id="14" name="Image 0" descr="/home/claude/charts/01_missing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188720"/>
            <a:ext cx="5212080" cy="289864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46520" y="4160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 — % of missing values in each column, before cleaning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Explored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02920" cy="502920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&amp; NumPy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data, fixing types, and grouping it for summaries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74520"/>
            <a:ext cx="502920" cy="502920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&amp; Seaborn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7200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bar charts, histograms, boxplots, and heatmap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74520"/>
            <a:ext cx="502920" cy="502920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48716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8346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wrote and ran all the steps, one at a time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49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at the data in four ways: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6F4E3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items sell best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337560" y="425196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C08552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customers behave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425196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6F4E37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915400" y="4251960"/>
            <a:ext cx="2514600" cy="594360"/>
          </a:xfrm>
          <a:prstGeom prst="roundRect">
            <a:avLst>
              <a:gd name="adj" fmla="val 49231"/>
            </a:avLst>
          </a:prstGeom>
          <a:solidFill>
            <a:srgbClr val="C08552"/>
          </a:solidFill>
          <a:ln/>
        </p:spPr>
      </p:sp>
      <p:sp>
        <p:nvSpPr>
          <p:cNvPr id="27" name="Text 25"/>
          <p:cNvSpPr/>
          <p:nvPr/>
        </p:nvSpPr>
        <p:spPr>
          <a:xfrm>
            <a:off x="8915400" y="425196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numbers relate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Items Sell the Most vs. Earn the Most</a:t>
            </a:r>
            <a:endParaRPr lang="en-US" sz="2400" dirty="0"/>
          </a:p>
        </p:txBody>
      </p:sp>
      <p:pic>
        <p:nvPicPr>
          <p:cNvPr id="4" name="Image 0" descr="/home/claude/charts/02_item_popular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5486400" cy="3227832"/>
          </a:xfrm>
          <a:prstGeom prst="rect">
            <a:avLst/>
          </a:prstGeom>
        </p:spPr>
      </p:pic>
      <p:pic>
        <p:nvPicPr>
          <p:cNvPr id="5" name="Image 1" descr="/home/claude/charts/05_revenue_by_i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325880"/>
            <a:ext cx="5486400" cy="322783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709160"/>
            <a:ext cx="10698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order almost every item about the same number of times. But money-wise, it's different: </a:t>
            </a:r>
            <a:r>
              <a:rPr lang="en-US" sz="13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Salad, Sandwich, and Smoothie bring in the most money</a:t>
            </a: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Cookie and Tea bring in the least — even though people order them just as often. Selling a lot isn't the same as earning a lot.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Customers Pay and Where They Eat</a:t>
            </a:r>
            <a:endParaRPr lang="en-US" sz="2400" dirty="0"/>
          </a:p>
        </p:txBody>
      </p:sp>
      <p:pic>
        <p:nvPicPr>
          <p:cNvPr id="4" name="Image 0" descr="/home/claude/charts/03_payment_lo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6400800" cy="2907792"/>
          </a:xfrm>
          <a:prstGeom prst="rect">
            <a:avLst/>
          </a:prstGeom>
        </p:spPr>
      </p:pic>
      <p:pic>
        <p:nvPicPr>
          <p:cNvPr id="5" name="Image 1" descr="/home/claude/charts/06_boxplot_pay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25880"/>
            <a:ext cx="4754880" cy="29718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48056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480560"/>
            <a:ext cx="106984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 Cash, Card, and Digital Wallet almost equally — no single way to pay is more popular. </a:t>
            </a:r>
            <a:r>
              <a:rPr lang="en-US" sz="13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eating in the café spend $9.10 on average, versus $8.79 for takeaway</a:t>
            </a: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small gap, suggesting in-store customers tend to add a little extra to their order.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Sales Change Over Time?</a:t>
            </a:r>
            <a:endParaRPr lang="en-US" sz="2500" dirty="0"/>
          </a:p>
        </p:txBody>
      </p:sp>
      <p:pic>
        <p:nvPicPr>
          <p:cNvPr id="4" name="Image 0" descr="/home/claude/charts/07_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6492240" cy="3246120"/>
          </a:xfrm>
          <a:prstGeom prst="rect">
            <a:avLst/>
          </a:prstGeom>
        </p:spPr>
      </p:pic>
      <p:pic>
        <p:nvPicPr>
          <p:cNvPr id="5" name="Image 1" descr="/home/claude/charts/08_weekday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325880"/>
            <a:ext cx="4663440" cy="32461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4754880"/>
            <a:ext cx="11247120" cy="1325880"/>
          </a:xfrm>
          <a:prstGeom prst="roundRect">
            <a:avLst>
              <a:gd name="adj" fmla="val 6897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475488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stay fairly steady across every month and every day of the week — there's </a:t>
            </a:r>
            <a:r>
              <a:rPr lang="en-US" sz="13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big jump or drop at any particular time</a:t>
            </a: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This makes it easier to plan staff and stock ahead of time.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 ·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Numbers Relate to Each Other</a:t>
            </a:r>
            <a:endParaRPr lang="en-US" sz="2500" dirty="0"/>
          </a:p>
        </p:txBody>
      </p:sp>
      <p:pic>
        <p:nvPicPr>
          <p:cNvPr id="4" name="Image 0" descr="/home/claude/charts/04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71600"/>
            <a:ext cx="7223760" cy="2221992"/>
          </a:xfrm>
          <a:prstGeom prst="rect">
            <a:avLst/>
          </a:prstGeom>
        </p:spPr>
      </p:pic>
      <p:pic>
        <p:nvPicPr>
          <p:cNvPr id="5" name="Image 1" descr="/home/claude/charts/09_corre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234440"/>
            <a:ext cx="3931920" cy="3438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3794760"/>
            <a:ext cx="7223760" cy="2286000"/>
          </a:xfrm>
          <a:prstGeom prst="roundRect">
            <a:avLst>
              <a:gd name="adj" fmla="val 4000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31520" y="3794760"/>
            <a:ext cx="6766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Quantity, price, and total spent are all spread out evenly — no strange extreme values. </a:t>
            </a:r>
            <a:r>
              <a:rPr lang="en-US" sz="13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amount spent goes up closely with both quantity and price</a:t>
            </a:r>
            <a:r>
              <a:rPr lang="en-US" sz="1300" dirty="0">
                <a:solidFill>
                  <a:srgbClr val="3D3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which makes sense. But quantity and price don't really relate to each other — prices aren't changed based on how much someone orders.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Things We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384048" cy="38404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data was the biggest hurdle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07568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40% of some columns were missing or wrong — we fixed what we could instead of deleting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691640"/>
            <a:ext cx="384048" cy="384048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Best-sellers aren't always the top earners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0" y="207568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Salad, Sandwich &amp; Smoothie make the most money; Cookie &amp; Tea make the least, despite similar order counts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81528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264408"/>
            <a:ext cx="384048" cy="38404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2186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Eating in earns a little more than takeaway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364845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$9.10 vs $8.79 average order — a small but steady difference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081528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264408"/>
            <a:ext cx="384048" cy="384048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3264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321868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don't rise or fall much over 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49440" y="364845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spread evenly across months and days of the week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65429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837176"/>
            <a:ext cx="384048" cy="384048"/>
          </a:xfrm>
          <a:prstGeom prst="ellipse">
            <a:avLst/>
          </a:prstGeom>
          <a:solidFill>
            <a:srgbClr val="6F4E37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837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34440" y="47914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one payment method is favored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522122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Card, and Digital Wallet are used about equally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63640" y="465429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837176"/>
            <a:ext cx="384048" cy="384048"/>
          </a:xfrm>
          <a:prstGeom prst="ellipse">
            <a:avLst/>
          </a:prstGeom>
          <a:solidFill>
            <a:srgbClr val="C08552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837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49440" y="479145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total amount paid makes sense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49440" y="522122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rises predictably with quantity and price, which confirms the data is now reliable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CAFÉ SHOULD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E3D3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 better data at checkout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20299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Payment Method and Location required fields, so we don't lose 30-40% of this info next time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3E3D3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6276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94944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 weak sellers with best-sellers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49440" y="20299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Cookie &amp; Tea in combos with Salad, Sandwich or Smoothie to help them earn more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bigger takeaway orders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360273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adding a drink or snack at takeaway checkout to close the small gap with in-store spending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3035808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4944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staff and stock evenly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3602736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sales don't change much by month or day, there's no need for big seasonal changes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0857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47457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supporting all payment options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34440" y="517550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Card, and Digital Wallet are all used equally, so all three should stay available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608576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7F1EA"/>
          </a:solidFill>
          <a:ln w="12700">
            <a:solidFill>
              <a:srgbClr val="E7DB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773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4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49440" y="47457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3B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this cleaning process into a habit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5175504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cleaning steps each time new sales data comes in, to save time later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2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A1F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6F4E37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389120"/>
            <a:ext cx="4114800" cy="4114800"/>
          </a:xfrm>
          <a:prstGeom prst="ellipse">
            <a:avLst/>
          </a:prstGeom>
          <a:solidFill>
            <a:srgbClr val="C08552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AC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data leads to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decisions.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D8C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took messy sales data through cleaning, exploring, and understanding it — the same steps used with real business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526280"/>
            <a:ext cx="2011680" cy="0"/>
          </a:xfrm>
          <a:prstGeom prst="line">
            <a:avLst/>
          </a:prstGeom>
          <a:noFill/>
          <a:ln w="25400">
            <a:solidFill>
              <a:srgbClr val="A9CB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091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C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answer any questions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Microsoft Office PowerPoint</Application>
  <PresentationFormat>Widescreen</PresentationFormat>
  <Paragraphs>198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darth lord</cp:lastModifiedBy>
  <cp:revision>2</cp:revision>
  <dcterms:created xsi:type="dcterms:W3CDTF">2026-07-30T07:22:01Z</dcterms:created>
  <dcterms:modified xsi:type="dcterms:W3CDTF">2026-07-30T07:51:48Z</dcterms:modified>
</cp:coreProperties>
</file>